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b713c3f-c8ca-3bf1-a73d-641d7031fa7f}">
          <p14:sldIdLst>
            <p14:sldId id="256"/>
          </p14:sldIdLst>
        </p14:section>
        <p14:section name="Contexto" id="{376da5f1-3e8b-071b-de0b-8e24a898a9a2}">
          <p14:sldIdLst>
            <p14:sldId id="257"/>
          </p14:sldIdLst>
        </p14:section>
        <p14:section name="Diseño" id="{4ca1388a-5fe2-b35c-1eaf-94663b47526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ecursos Java" id="{b1322bc6-176c-2d42-ad4e-4f6ab15dcb34}">
          <p14:sldIdLst>
            <p14:sldId id="264"/>
          </p14:sldIdLst>
        </p14:section>
        <p14:section name="Producto" id="{3bdd33d4-e58d-5f4a-65c3-efa5169c53a6}">
          <p14:sldIdLst>
            <p14:sldId id="265"/>
            <p14:sldId id="266"/>
          </p14:sldIdLst>
        </p14:section>
        <p14:section name="Evidencias" id="{0217b0ed-3c7a-6600-b5e9-5c563959aa26}">
          <p14:sldIdLst>
            <p14:sldId id="267"/>
            <p14:sldId id="268"/>
            <p14:sldId id="269"/>
          </p14:sldIdLst>
        </p14:section>
        <p14:section name="Cierre" id="{2cb8a57b-37d2-2766-4a15-c2abf61f78c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noches, profesor. Presento el tercer avance de BarberTurno, un sistema web de reservas para una barbería de una sede en Huamanga. En el APF2 presenté el diseño y un prototipo que simulaba las pantallas; hoy muestro el sistema construido, probado y desplegado.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APF2 era diseño y prototipo; el APF3 es el producto funcionando con evidencias por commit. El alcance no cambió: tres roles, una sede y hasta diez barberos. Las ideas de WhatsApp, IA o varias barberías quedan como evolución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jar sirve la interfaz Angular y la API. Las capas son: filtros de seguridad, controladores REST, servicios de dominio con transacciones y repositorios JPA sobre PostgreSQL. Está desplegado en Azure App Service con PostgreSQL administrado. El monolito permite transacciones ACID que guardan reserva, auditoría y aviso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Angular envía el POST con la cookie y el token CSRF; Spring Security valida JWT, CSRF y rol; el controlador recibe el DTO validado y delega; el servicio abre la transacción, bloquea al cliente y al barbero, revalida la disponibilidad y guarda reserva, auditoría y avisos. La respuesta incluye los permisos calculados por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MVC: Spring Web MVC dirige cada petición a un controlador REST; el modelo son servicios, entidades y DTO; la vista es la representación JSON que Angular muestra. DAO: los repositorios de Spring Data ocultan el acceso a PostgreSQL; por ejemplo, bloquearPorIds toma el bloqueo pesimista por barbero.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SRP: PoliticaTransiciones es una función pura que también calcula los permisos que ve la interfaz. DIP: el reloj se inyecta; en producción es el real de Lima y en pruebas uno fijo. ISP: UsuarioActual con tres métodos. TDD: lo apliqué y documenté en T-49 y T-58; no lo atribuyo al proyecto entero, porque muchas pruebas no demuestran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interfaz puede ocultar botones, pero cada operación se autoriza en Java. Lo más delicado fue CSRF: Spring desactiva CSRF con JWT porque supone una cabecera, pero aquí el JWT viaja en cookie, así que se fuerza en toda escritura y cada endpoint tiene pruebas sin CSRF y con CSRF incorrecto. En T-49 además se estabilizó el token para Firefox.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Consultar y luego guardar no basta: dos clientes pueden ver la misma franja libre. Por eso se bloquea la fila del barbero y después se revalida. Si un camino de código olvidara el protocolo, la restricción de exclusión de PostgreSQL lo impide. La prueba de concurrencia envía diez solicitudes a la vez: una gana y nueve reciben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Logback ya registraba los eventos del sistema sin datos personales. Para usar de verdad las otras tres, añadí en T-58 la exportación a Excel del reporte: POI genera el archivo; Commons Lang detecta los textos que Excel podría tomar como fórmula y les aplica un estilo que los fuerza a texto sin cambiar el dato; Guava comprueba que los totales cuadren antes de entregar el archivo y mide el tiempo; y Logback registra la exportación sin datos personales. Lo hice con TDD: primero las pruebas en rojo y luego el código.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pantallas comprometidas están implementadas y funcionan contra la API real. Las capturas salen del arnés de Playwright con datos ficticios; cada una pasó el análisis de accesibilidad sin violaciones.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la sección 4 del guion. Abrir tres ventanas: cliente, barbero y administrador. Si algo falla en vivo, mostrar las capturas del informe y explicar lo que debía ocurrir.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proyecto está en el repositorio público. Cada tarea tiene su rama y se integra con merge sin avance rápido; los commits siguen la convención y citan la tarea. La CI se ejecuta en cada push. Código de T-58 en main (merge 3bcd5d0, CI 39716850704 success); materiales del APF3 y APF2 final publicados.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son del checkpoint del 17 y 18 de octubre sobre el código publicado, con CI verde en GitHub. Está desplegado en Azure con HTTPS y monitor de salud. T-58 (en main desde 3bcd5d0, 21/10/2026): 1578/1578 backend, 450/450 frontend, 48/48 E2E.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 Java: con el método del APF2 es 28,78 % del producto; la lógica sigue en Java y creció la interfaz. Prefiero declarar lo que falta: la usabilidad con personas, la disponibilidad de noviembre, la prueba funcional en producción y el ensayo de restauración en Azure. El negocio sigue siendo un caso académico.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diseño se convirtió en un sistema funcionando; los patrones se ven en el código; la integridad de las reservas está en el servidor y la base; las bibliotecas tienen una función real; y todo es verificable en GitHub y Azure.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5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EF5F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45C43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4"/>
                </a:solidFill>
              </a:rPr>
              <a:t>BarberTurno · APF3 · Integrador 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BarberTurno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5F1"/>
                </a:solidFill>
              </a:rPr>
              <a:t>Avance de Proyecto Final 3 · Del diseño al sistema funcionando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EF5F1"/>
                </a:solidFill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EF5F1"/>
                </a:solidFill>
              </a:rPr>
              <a:t>Sohnny Walter Lima Infanzón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EF5F1"/>
                </a:solidFill>
              </a:rPr>
              <a:t>Integrador I: Sistemas Software · Sección 20058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EF5F1"/>
                </a:solidFill>
              </a:rPr>
              <a:t>Docente: Mg. Ing. Juan Barahona Sánchez · Universidad Tecnológica del Perú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Del prototipo del APF2 al sistema del APF3</a:t>
            </a:r>
            <a:endParaRPr lang="en-US" sz="3400" dirty="0"/>
          </a:p>
        </p:txBody>
      </p:sp>
      <p:sp>
        <p:nvSpPr>
          <p:cNvPr id="3" name="tarjeta-1"/>
          <p:cNvSpPr/>
          <p:nvPr/>
        </p:nvSpPr>
        <p:spPr>
          <a:xfrm>
            <a:off x="548640" y="13258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texto-2"/>
          <p:cNvSpPr txBox="1"/>
          <p:nvPr/>
        </p:nvSpPr>
        <p:spPr>
          <a:xfrm>
            <a:off x="77724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5A54"/>
                </a:solidFill>
              </a:rPr>
              <a:t>APF2 · diseño</a:t>
            </a:r>
            <a:endParaRPr lang="en-US" sz="2000" dirty="0"/>
          </a:p>
        </p:txBody>
      </p:sp>
      <p:sp>
        <p:nvSpPr>
          <p:cNvPr id="5" name="texto-3"/>
          <p:cNvSpPr txBox="1"/>
          <p:nvPr/>
        </p:nvSpPr>
        <p:spPr>
          <a:xfrm>
            <a:off x="777240" y="1920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Tres alternativas con ocho pantallas cada una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Prototipo HTML con datos simulados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Tres clases Java de reglas temporales</a:t>
            </a:r>
            <a:endParaRPr lang="en-US" sz="1600" dirty="0"/>
          </a:p>
        </p:txBody>
      </p:sp>
      <p:sp>
        <p:nvSpPr>
          <p:cNvPr id="6" name="tarjeta-4"/>
          <p:cNvSpPr/>
          <p:nvPr/>
        </p:nvSpPr>
        <p:spPr>
          <a:xfrm>
            <a:off x="6492240" y="13258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7" name="texto-5"/>
          <p:cNvSpPr txBox="1"/>
          <p:nvPr/>
        </p:nvSpPr>
        <p:spPr>
          <a:xfrm>
            <a:off x="672084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APF3 · construcción</a:t>
            </a:r>
            <a:endParaRPr lang="en-US" sz="2000" dirty="0"/>
          </a:p>
        </p:txBody>
      </p:sp>
      <p:sp>
        <p:nvSpPr>
          <p:cNvPr id="8" name="texto-6"/>
          <p:cNvSpPr txBox="1"/>
          <p:nvPr/>
        </p:nvSpPr>
        <p:spPr>
          <a:xfrm>
            <a:off x="6720840" y="1920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Angular 22 + Spring Boot 4.1.1 (Java 21) + PostgreSQL 18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RF-01…RF-14 implementados y siete mejoras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Pruebas, CI en GitHub y despliegue en Azure</a:t>
            </a:r>
            <a:endParaRPr lang="en-US" sz="1600" dirty="0"/>
          </a:p>
        </p:txBody>
      </p:sp>
      <p:sp>
        <p:nvSpPr>
          <p:cNvPr id="9" name="flecha-7"/>
          <p:cNvSpPr/>
          <p:nvPr/>
        </p:nvSpPr>
        <p:spPr>
          <a:xfrm>
            <a:off x="5806440" y="2240280"/>
            <a:ext cx="548640" cy="5029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o-8"/>
          <p:cNvSpPr txBox="1"/>
          <p:nvPr/>
        </p:nvSpPr>
        <p:spPr>
          <a:xfrm>
            <a:off x="54864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21</a:t>
            </a:r>
            <a:endParaRPr lang="en-US" sz="4400" dirty="0"/>
          </a:p>
        </p:txBody>
      </p:sp>
      <p:sp>
        <p:nvSpPr>
          <p:cNvPr id="11" name="texto-9"/>
          <p:cNvSpPr txBox="1"/>
          <p:nvPr/>
        </p:nvSpPr>
        <p:spPr>
          <a:xfrm>
            <a:off x="54864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requisitos funcionales en el código</a:t>
            </a:r>
            <a:endParaRPr lang="en-US" sz="1300" dirty="0"/>
          </a:p>
        </p:txBody>
      </p:sp>
      <p:sp>
        <p:nvSpPr>
          <p:cNvPr id="12" name="texto-10"/>
          <p:cNvSpPr txBox="1"/>
          <p:nvPr/>
        </p:nvSpPr>
        <p:spPr>
          <a:xfrm>
            <a:off x="333756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3</a:t>
            </a:r>
            <a:endParaRPr lang="en-US" sz="4400" dirty="0"/>
          </a:p>
        </p:txBody>
      </p:sp>
      <p:sp>
        <p:nvSpPr>
          <p:cNvPr id="13" name="texto-11"/>
          <p:cNvSpPr txBox="1"/>
          <p:nvPr/>
        </p:nvSpPr>
        <p:spPr>
          <a:xfrm>
            <a:off x="333756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roles: cliente, barbero y administrador</a:t>
            </a:r>
            <a:endParaRPr lang="en-US" sz="1300" dirty="0"/>
          </a:p>
        </p:txBody>
      </p:sp>
      <p:sp>
        <p:nvSpPr>
          <p:cNvPr id="14" name="texto-12"/>
          <p:cNvSpPr txBox="1"/>
          <p:nvPr/>
        </p:nvSpPr>
        <p:spPr>
          <a:xfrm>
            <a:off x="612648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450</a:t>
            </a:r>
            <a:endParaRPr lang="en-US" sz="4400" dirty="0"/>
          </a:p>
        </p:txBody>
      </p:sp>
      <p:sp>
        <p:nvSpPr>
          <p:cNvPr id="15" name="texto-13"/>
          <p:cNvSpPr txBox="1"/>
          <p:nvPr/>
        </p:nvSpPr>
        <p:spPr>
          <a:xfrm>
            <a:off x="612648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commits en GitHub (main)</a:t>
            </a:r>
            <a:endParaRPr lang="en-US" sz="1300" dirty="0"/>
          </a:p>
        </p:txBody>
      </p:sp>
      <p:sp>
        <p:nvSpPr>
          <p:cNvPr id="16" name="texto-14"/>
          <p:cNvSpPr txBox="1"/>
          <p:nvPr/>
        </p:nvSpPr>
        <p:spPr>
          <a:xfrm>
            <a:off x="891540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19/10</a:t>
            </a:r>
            <a:endParaRPr lang="en-US" sz="4400" dirty="0"/>
          </a:p>
        </p:txBody>
      </p:sp>
      <p:sp>
        <p:nvSpPr>
          <p:cNvPr id="17" name="texto-15"/>
          <p:cNvSpPr txBox="1"/>
          <p:nvPr/>
        </p:nvSpPr>
        <p:spPr>
          <a:xfrm>
            <a:off x="891540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desplegado en Azure for Students</a:t>
            </a:r>
            <a:endParaRPr lang="en-US" sz="1300" dirty="0"/>
          </a:p>
        </p:txBody>
      </p:sp>
      <p:sp>
        <p:nvSpPr>
          <p:cNvPr id="18" name="texto-16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A54"/>
                </a:solidFill>
              </a:rPr>
              <a:t>Alcance sin cambios: una sede, hasta diez barberos. WhatsApp, IA y multitenencia son ideas futuras, no implementadas.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Arquitectura implementada: monolito modular</a:t>
            </a:r>
            <a:endParaRPr lang="en-US" sz="3400" dirty="0"/>
          </a:p>
        </p:txBody>
      </p:sp>
      <p:pic>
        <p:nvPicPr>
          <p:cNvPr id="3" name="imagen-17" descr="Diagrama de arquitectura de BarberTur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613" y="1234440"/>
            <a:ext cx="8136294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Recorrido de una reserva por el sistema</a:t>
            </a:r>
            <a:endParaRPr lang="en-US" sz="3400" dirty="0"/>
          </a:p>
        </p:txBody>
      </p:sp>
      <p:sp>
        <p:nvSpPr>
          <p:cNvPr id="3" name="tarjeta-18"/>
          <p:cNvSpPr/>
          <p:nvPr/>
        </p:nvSpPr>
        <p:spPr>
          <a:xfrm>
            <a:off x="548640" y="155448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19"/>
          <p:cNvSpPr/>
          <p:nvPr/>
        </p:nvSpPr>
        <p:spPr>
          <a:xfrm>
            <a:off x="1325880" y="17830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20"/>
          <p:cNvSpPr txBox="1"/>
          <p:nvPr/>
        </p:nvSpPr>
        <p:spPr>
          <a:xfrm>
            <a:off x="1325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-21"/>
          <p:cNvSpPr txBox="1"/>
          <p:nvPr/>
        </p:nvSpPr>
        <p:spPr>
          <a:xfrm>
            <a:off x="6858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C43"/>
                </a:solidFill>
              </a:rPr>
              <a:t>Angular</a:t>
            </a:r>
            <a:endParaRPr lang="en-US" sz="1700" dirty="0"/>
          </a:p>
        </p:txBody>
      </p:sp>
      <p:sp>
        <p:nvSpPr>
          <p:cNvPr id="7" name="texto-22"/>
          <p:cNvSpPr txBox="1"/>
          <p:nvPr/>
        </p:nvSpPr>
        <p:spPr>
          <a:xfrm>
            <a:off x="685800" y="29718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POST /api/reservas con la cookie de sesión y X-XSRF-TOKEN</a:t>
            </a:r>
            <a:endParaRPr lang="en-US" sz="1400" dirty="0"/>
          </a:p>
        </p:txBody>
      </p:sp>
      <p:sp>
        <p:nvSpPr>
          <p:cNvPr id="8" name="flecha-23"/>
          <p:cNvSpPr/>
          <p:nvPr/>
        </p:nvSpPr>
        <p:spPr>
          <a:xfrm>
            <a:off x="2624328" y="2834640"/>
            <a:ext cx="192024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arjeta-24"/>
          <p:cNvSpPr/>
          <p:nvPr/>
        </p:nvSpPr>
        <p:spPr>
          <a:xfrm>
            <a:off x="2834640" y="155448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0" name="insignia-25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1" name="insignia-texto-26"/>
          <p:cNvSpPr txBox="1"/>
          <p:nvPr/>
        </p:nvSpPr>
        <p:spPr>
          <a:xfrm>
            <a:off x="3611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-27"/>
          <p:cNvSpPr txBox="1"/>
          <p:nvPr/>
        </p:nvSpPr>
        <p:spPr>
          <a:xfrm>
            <a:off x="29718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C43"/>
                </a:solidFill>
              </a:rPr>
              <a:t>Spring Security</a:t>
            </a:r>
            <a:endParaRPr lang="en-US" sz="1700" dirty="0"/>
          </a:p>
        </p:txBody>
      </p:sp>
      <p:sp>
        <p:nvSpPr>
          <p:cNvPr id="13" name="texto-28"/>
          <p:cNvSpPr txBox="1"/>
          <p:nvPr/>
        </p:nvSpPr>
        <p:spPr>
          <a:xfrm>
            <a:off x="2971800" y="29718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Valida JWT, CSRF y rol; si falla: 401 o 403</a:t>
            </a:r>
            <a:endParaRPr lang="en-US" sz="1400" dirty="0"/>
          </a:p>
        </p:txBody>
      </p:sp>
      <p:sp>
        <p:nvSpPr>
          <p:cNvPr id="14" name="flecha-29"/>
          <p:cNvSpPr/>
          <p:nvPr/>
        </p:nvSpPr>
        <p:spPr>
          <a:xfrm>
            <a:off x="4910328" y="2834640"/>
            <a:ext cx="192024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arjeta-30"/>
          <p:cNvSpPr/>
          <p:nvPr/>
        </p:nvSpPr>
        <p:spPr>
          <a:xfrm>
            <a:off x="5120640" y="155448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6" name="insignia-31"/>
          <p:cNvSpPr/>
          <p:nvPr/>
        </p:nvSpPr>
        <p:spPr>
          <a:xfrm>
            <a:off x="5897880" y="17830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7" name="insignia-texto-32"/>
          <p:cNvSpPr txBox="1"/>
          <p:nvPr/>
        </p:nvSpPr>
        <p:spPr>
          <a:xfrm>
            <a:off x="5897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o-33"/>
          <p:cNvSpPr txBox="1"/>
          <p:nvPr/>
        </p:nvSpPr>
        <p:spPr>
          <a:xfrm>
            <a:off x="52578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C43"/>
                </a:solidFill>
              </a:rPr>
              <a:t>ReservaController</a:t>
            </a:r>
            <a:endParaRPr lang="en-US" sz="1700" dirty="0"/>
          </a:p>
        </p:txBody>
      </p:sp>
      <p:sp>
        <p:nvSpPr>
          <p:cNvPr id="19" name="texto-34"/>
          <p:cNvSpPr txBox="1"/>
          <p:nvPr/>
        </p:nvSpPr>
        <p:spPr>
          <a:xfrm>
            <a:off x="5257800" y="29718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Recibe el DTO validado y delega en el servicio</a:t>
            </a:r>
            <a:endParaRPr lang="en-US" sz="1400" dirty="0"/>
          </a:p>
        </p:txBody>
      </p:sp>
      <p:sp>
        <p:nvSpPr>
          <p:cNvPr id="20" name="flecha-35"/>
          <p:cNvSpPr/>
          <p:nvPr/>
        </p:nvSpPr>
        <p:spPr>
          <a:xfrm>
            <a:off x="7196328" y="2834640"/>
            <a:ext cx="192024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arjeta-36"/>
          <p:cNvSpPr/>
          <p:nvPr/>
        </p:nvSpPr>
        <p:spPr>
          <a:xfrm>
            <a:off x="7406640" y="155448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E3EEE8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22" name="insignia-37"/>
          <p:cNvSpPr/>
          <p:nvPr/>
        </p:nvSpPr>
        <p:spPr>
          <a:xfrm>
            <a:off x="8183880" y="17830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23" name="insignia-texto-38"/>
          <p:cNvSpPr txBox="1"/>
          <p:nvPr/>
        </p:nvSpPr>
        <p:spPr>
          <a:xfrm>
            <a:off x="8183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o-39"/>
          <p:cNvSpPr txBox="1"/>
          <p:nvPr/>
        </p:nvSpPr>
        <p:spPr>
          <a:xfrm>
            <a:off x="75438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C43"/>
                </a:solidFill>
              </a:rPr>
              <a:t>ReservaService</a:t>
            </a:r>
            <a:endParaRPr lang="en-US" sz="1700" dirty="0"/>
          </a:p>
        </p:txBody>
      </p:sp>
      <p:sp>
        <p:nvSpPr>
          <p:cNvPr id="25" name="texto-40"/>
          <p:cNvSpPr txBox="1"/>
          <p:nvPr/>
        </p:nvSpPr>
        <p:spPr>
          <a:xfrm>
            <a:off x="7543800" y="29718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Transacción: bloquea cliente y barbero y revalida la franja</a:t>
            </a:r>
            <a:endParaRPr lang="en-US" sz="1400" dirty="0"/>
          </a:p>
        </p:txBody>
      </p:sp>
      <p:sp>
        <p:nvSpPr>
          <p:cNvPr id="26" name="flecha-41"/>
          <p:cNvSpPr/>
          <p:nvPr/>
        </p:nvSpPr>
        <p:spPr>
          <a:xfrm>
            <a:off x="9482328" y="2834640"/>
            <a:ext cx="192024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7" name="tarjeta-42"/>
          <p:cNvSpPr/>
          <p:nvPr/>
        </p:nvSpPr>
        <p:spPr>
          <a:xfrm>
            <a:off x="9692640" y="155448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28" name="insignia-43"/>
          <p:cNvSpPr/>
          <p:nvPr/>
        </p:nvSpPr>
        <p:spPr>
          <a:xfrm>
            <a:off x="10469880" y="17830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29" name="insignia-texto-44"/>
          <p:cNvSpPr txBox="1"/>
          <p:nvPr/>
        </p:nvSpPr>
        <p:spPr>
          <a:xfrm>
            <a:off x="10469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o-45"/>
          <p:cNvSpPr txBox="1"/>
          <p:nvPr/>
        </p:nvSpPr>
        <p:spPr>
          <a:xfrm>
            <a:off x="98298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C43"/>
                </a:solidFill>
              </a:rPr>
              <a:t>Repositorios</a:t>
            </a:r>
            <a:endParaRPr lang="en-US" sz="1700" dirty="0"/>
          </a:p>
        </p:txBody>
      </p:sp>
      <p:sp>
        <p:nvSpPr>
          <p:cNvPr id="31" name="texto-46"/>
          <p:cNvSpPr txBox="1"/>
          <p:nvPr/>
        </p:nvSpPr>
        <p:spPr>
          <a:xfrm>
            <a:off x="9829800" y="29718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Guarda reserva, auditoría y avisos; COMMIT o ROLLBACK</a:t>
            </a:r>
            <a:endParaRPr lang="en-US" sz="1400" dirty="0"/>
          </a:p>
        </p:txBody>
      </p:sp>
      <p:sp>
        <p:nvSpPr>
          <p:cNvPr id="32" name="tarjeta-47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33" name="texto-48"/>
          <p:cNvSpPr txBox="1"/>
          <p:nvPr/>
        </p:nvSpPr>
        <p:spPr>
          <a:xfrm>
            <a:off x="777240" y="49834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D"/>
                </a:solidFill>
              </a:rPr>
              <a:t>Respuesta: </a:t>
            </a:r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201 con ReservaDto y sus permisos (la interfaz habilita botones según el servidor), o problem+json con el motivo, por ejemplo 409 FRANJA_NO_DISPONIBLE.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MVC y DAO aplicados en el código</a:t>
            </a:r>
            <a:endParaRPr lang="en-US" sz="3400" dirty="0"/>
          </a:p>
        </p:txBody>
      </p:sp>
      <p:sp>
        <p:nvSpPr>
          <p:cNvPr id="3" name="tarjeta-49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50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51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</a:t>
            </a:r>
            <a:endParaRPr lang="en-US" sz="1800" dirty="0"/>
          </a:p>
        </p:txBody>
      </p:sp>
      <p:sp>
        <p:nvSpPr>
          <p:cNvPr id="6" name="texto-52"/>
          <p:cNvSpPr txBox="1"/>
          <p:nvPr/>
        </p:nvSpPr>
        <p:spPr>
          <a:xfrm>
            <a:off x="141732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MVC con Spring Web MVC</a:t>
            </a:r>
            <a:endParaRPr lang="en-US" sz="2000" dirty="0"/>
          </a:p>
        </p:txBody>
      </p:sp>
      <p:sp>
        <p:nvSpPr>
          <p:cNvPr id="7" name="texto-53"/>
          <p:cNvSpPr txBox="1"/>
          <p:nvPr/>
        </p:nvSpPr>
        <p:spPr>
          <a:xfrm>
            <a:off x="777240" y="2148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231D"/>
                </a:solidFill>
              </a:rPr>
              <a:t>Controlador: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4231D"/>
                </a:solidFill>
              </a:rPr>
              <a:t>@RestController recibe y valida; no tiene reglas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231D"/>
                </a:solidFill>
              </a:rPr>
              <a:t>Modelo: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4231D"/>
                </a:solidFill>
              </a:rPr>
              <a:t>servicios, entidades y DTO con las reglas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231D"/>
                </a:solidFill>
              </a:rPr>
              <a:t>Vista: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4231D"/>
                </a:solidFill>
              </a:rPr>
              <a:t>el JSON que Angular presenta; no hay Thymeleaf</a:t>
            </a:r>
            <a:endParaRPr lang="en-US" sz="1500" dirty="0"/>
          </a:p>
        </p:txBody>
      </p:sp>
      <p:sp>
        <p:nvSpPr>
          <p:cNvPr id="8" name="texto-54"/>
          <p:cNvSpPr txBox="1"/>
          <p:nvPr/>
        </p:nvSpPr>
        <p:spPr>
          <a:xfrm>
            <a:off x="777240" y="3886200"/>
            <a:ext cx="49377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@GetMapping("/api/reportes/resumen")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ResumenReporteDto resumen(...)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reportes.resumen(actor, desde,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hasta, servicioId, barberoId);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arjeta-55"/>
          <p:cNvSpPr/>
          <p:nvPr/>
        </p:nvSpPr>
        <p:spPr>
          <a:xfrm>
            <a:off x="6263640" y="128016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0" name="insignia-56"/>
          <p:cNvSpPr/>
          <p:nvPr/>
        </p:nvSpPr>
        <p:spPr>
          <a:xfrm>
            <a:off x="6492240" y="146304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1" name="insignia-texto-57"/>
          <p:cNvSpPr txBox="1"/>
          <p:nvPr/>
        </p:nvSpPr>
        <p:spPr>
          <a:xfrm>
            <a:off x="6492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2" name="texto-58"/>
          <p:cNvSpPr txBox="1"/>
          <p:nvPr/>
        </p:nvSpPr>
        <p:spPr>
          <a:xfrm>
            <a:off x="713232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DAO con Spring Data JPA</a:t>
            </a:r>
            <a:endParaRPr lang="en-US" sz="2000" dirty="0"/>
          </a:p>
        </p:txBody>
      </p:sp>
      <p:sp>
        <p:nvSpPr>
          <p:cNvPr id="13" name="texto-59"/>
          <p:cNvSpPr txBox="1"/>
          <p:nvPr/>
        </p:nvSpPr>
        <p:spPr>
          <a:xfrm>
            <a:off x="649224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9 repositorios, uno por agregado. Los servicios llaman a métodos con significado de negocio y nunca escriben SQL.</a:t>
            </a:r>
            <a:endParaRPr lang="en-US" sz="1500" dirty="0"/>
          </a:p>
        </p:txBody>
      </p:sp>
      <p:sp>
        <p:nvSpPr>
          <p:cNvPr id="14" name="texto-60"/>
          <p:cNvSpPr txBox="1"/>
          <p:nvPr/>
        </p:nvSpPr>
        <p:spPr>
          <a:xfrm>
            <a:off x="6492240" y="3246120"/>
            <a:ext cx="493776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@Lock(LockModeType.PESSIMISTIC_WRITE)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b from Barbero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b.id in :ids order by b.id")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List&lt;Barbero&gt; bloquearPorIds(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Collection&lt;Long&gt; ids);</a:t>
            </a:r>
            <a:endParaRPr lang="en-US" sz="1300" dirty="0"/>
          </a:p>
        </p:txBody>
      </p:sp>
      <p:sp>
        <p:nvSpPr>
          <p:cNvPr id="15" name="texto-61"/>
          <p:cNvSpPr txBox="1"/>
          <p:nvPr/>
        </p:nvSpPr>
        <p:spPr>
          <a:xfrm>
            <a:off x="649224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54"/>
                </a:solidFill>
              </a:rPr>
              <a:t>BarberoRepository · bloqueo ② por barbero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SOLID y TDD: lo que sí se aplicó</a:t>
            </a:r>
            <a:endParaRPr lang="en-US" sz="3400" dirty="0"/>
          </a:p>
        </p:txBody>
      </p:sp>
      <p:sp>
        <p:nvSpPr>
          <p:cNvPr id="3" name="tarjeta-62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63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64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6" name="texto-65"/>
          <p:cNvSpPr txBox="1"/>
          <p:nvPr/>
        </p:nvSpPr>
        <p:spPr>
          <a:xfrm>
            <a:off x="1463040" y="1581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31D"/>
                </a:solidFill>
              </a:rPr>
              <a:t>Responsabilidad única</a:t>
            </a:r>
            <a:endParaRPr lang="en-US" sz="1900" dirty="0"/>
          </a:p>
        </p:txBody>
      </p:sp>
      <p:sp>
        <p:nvSpPr>
          <p:cNvPr id="7" name="texto-66"/>
          <p:cNvSpPr txBox="1"/>
          <p:nvPr/>
        </p:nvSpPr>
        <p:spPr>
          <a:xfrm>
            <a:off x="777240" y="224028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PoliticaTransiciones solo decide si un cambio de estado es válido; ReservaAutorizacion solo, quién puede ver.</a:t>
            </a:r>
            <a:endParaRPr lang="en-US" sz="1500" dirty="0"/>
          </a:p>
        </p:txBody>
      </p:sp>
      <p:sp>
        <p:nvSpPr>
          <p:cNvPr id="8" name="tarjeta-67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9" name="insignia-68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0" name="insignia-texto-69"/>
          <p:cNvSpPr txBox="1"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1" name="texto-70"/>
          <p:cNvSpPr txBox="1"/>
          <p:nvPr/>
        </p:nvSpPr>
        <p:spPr>
          <a:xfrm>
            <a:off x="7086600" y="1581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31D"/>
                </a:solidFill>
              </a:rPr>
              <a:t>Inversión de dependencias</a:t>
            </a:r>
            <a:endParaRPr lang="en-US" sz="1900" dirty="0"/>
          </a:p>
        </p:txBody>
      </p:sp>
      <p:sp>
        <p:nvSpPr>
          <p:cNvPr id="12" name="texto-71"/>
          <p:cNvSpPr txBox="1"/>
          <p:nvPr/>
        </p:nvSpPr>
        <p:spPr>
          <a:xfrm>
            <a:off x="6400800" y="224028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Todo se inyecta por constructor. El Clock inyectado permite probar reglas de fecha con un reloj fijo.</a:t>
            </a:r>
            <a:endParaRPr lang="en-US" sz="1500" dirty="0"/>
          </a:p>
        </p:txBody>
      </p:sp>
      <p:sp>
        <p:nvSpPr>
          <p:cNvPr id="13" name="tarjeta-72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4" name="insignia-73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5" name="insignia-texto-74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6" name="texto-75"/>
          <p:cNvSpPr txBox="1"/>
          <p:nvPr/>
        </p:nvSpPr>
        <p:spPr>
          <a:xfrm>
            <a:off x="1463040" y="4050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31D"/>
                </a:solidFill>
              </a:rPr>
              <a:t>Segregación de interfaces</a:t>
            </a:r>
            <a:endParaRPr lang="en-US" sz="1900" dirty="0"/>
          </a:p>
        </p:txBody>
      </p:sp>
      <p:sp>
        <p:nvSpPr>
          <p:cNvPr id="17" name="texto-76"/>
          <p:cNvSpPr txBox="1"/>
          <p:nvPr/>
        </p:nvSpPr>
        <p:spPr>
          <a:xfrm>
            <a:off x="777240" y="470916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Los servicios dependen de UsuarioActual (3 métodos), no del contexto completo de Spring Security.</a:t>
            </a:r>
            <a:endParaRPr lang="en-US" sz="1500" dirty="0"/>
          </a:p>
        </p:txBody>
      </p:sp>
      <p:sp>
        <p:nvSpPr>
          <p:cNvPr id="18" name="tarjeta-77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FF7E6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9" name="insignia-78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insignia-texto-79"/>
          <p:cNvSpPr txBox="1"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21" name="texto-80"/>
          <p:cNvSpPr txBox="1"/>
          <p:nvPr/>
        </p:nvSpPr>
        <p:spPr>
          <a:xfrm>
            <a:off x="7086600" y="4050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31D"/>
                </a:solidFill>
              </a:rPr>
              <a:t>TDD documentado</a:t>
            </a:r>
            <a:endParaRPr lang="en-US" sz="1900" dirty="0"/>
          </a:p>
        </p:txBody>
      </p:sp>
      <p:sp>
        <p:nvSpPr>
          <p:cNvPr id="22" name="texto-81"/>
          <p:cNvSpPr txBox="1"/>
          <p:nvPr/>
        </p:nvSpPr>
        <p:spPr>
          <a:xfrm>
            <a:off x="6400800" y="470916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T-49 y T-58: prueba en rojo → código en verde. El resto: pruebas automatizadas, no TDD estricto.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Seguridad aplicada en el servidor</a:t>
            </a:r>
            <a:endParaRPr lang="en-US" sz="3400" dirty="0"/>
          </a:p>
        </p:txBody>
      </p:sp>
      <p:sp>
        <p:nvSpPr>
          <p:cNvPr id="3" name="tarjeta-82"/>
          <p:cNvSpPr/>
          <p:nvPr/>
        </p:nvSpPr>
        <p:spPr>
          <a:xfrm>
            <a:off x="457200" y="13258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8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8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-85"/>
          <p:cNvSpPr txBox="1"/>
          <p:nvPr/>
        </p:nvSpPr>
        <p:spPr>
          <a:xfrm>
            <a:off x="132588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Contraseñas</a:t>
            </a:r>
            <a:endParaRPr lang="en-US" sz="2000" dirty="0"/>
          </a:p>
        </p:txBody>
      </p:sp>
      <p:sp>
        <p:nvSpPr>
          <p:cNvPr id="7" name="texto-86"/>
          <p:cNvSpPr txBox="1"/>
          <p:nvPr/>
        </p:nvSpPr>
        <p:spPr>
          <a:xfrm>
            <a:off x="1325880" y="1965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BCrypt coste 12; bloqueo de 15 min tras 5 intentos</a:t>
            </a:r>
            <a:endParaRPr lang="en-US" sz="1600" dirty="0"/>
          </a:p>
        </p:txBody>
      </p:sp>
      <p:sp>
        <p:nvSpPr>
          <p:cNvPr id="8" name="tarjeta-87"/>
          <p:cNvSpPr/>
          <p:nvPr/>
        </p:nvSpPr>
        <p:spPr>
          <a:xfrm>
            <a:off x="6080760" y="13258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9" name="insignia-88"/>
          <p:cNvSpPr/>
          <p:nvPr/>
        </p:nvSpPr>
        <p:spPr>
          <a:xfrm>
            <a:off x="6263640" y="155448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0" name="insignia-texto-89"/>
          <p:cNvSpPr txBox="1"/>
          <p:nvPr/>
        </p:nvSpPr>
        <p:spPr>
          <a:xfrm>
            <a:off x="6263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-90"/>
          <p:cNvSpPr txBox="1"/>
          <p:nvPr/>
        </p:nvSpPr>
        <p:spPr>
          <a:xfrm>
            <a:off x="694944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Sesión</a:t>
            </a:r>
            <a:endParaRPr lang="en-US" sz="2000" dirty="0"/>
          </a:p>
        </p:txBody>
      </p:sp>
      <p:sp>
        <p:nvSpPr>
          <p:cNvPr id="12" name="texto-91"/>
          <p:cNvSpPr txBox="1"/>
          <p:nvPr/>
        </p:nvSpPr>
        <p:spPr>
          <a:xfrm>
            <a:off x="6949440" y="1965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JWT de 8 h en cookie HttpOnly, SameSite=Strict y Secure</a:t>
            </a:r>
            <a:endParaRPr lang="en-US" sz="1600" dirty="0"/>
          </a:p>
        </p:txBody>
      </p:sp>
      <p:sp>
        <p:nvSpPr>
          <p:cNvPr id="13" name="tarjeta-92"/>
          <p:cNvSpPr/>
          <p:nvPr/>
        </p:nvSpPr>
        <p:spPr>
          <a:xfrm>
            <a:off x="45720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4" name="insignia-9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5" name="insignia-texto-94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-95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CSRF</a:t>
            </a:r>
            <a:endParaRPr lang="en-US" sz="2000" dirty="0"/>
          </a:p>
        </p:txBody>
      </p:sp>
      <p:sp>
        <p:nvSpPr>
          <p:cNvPr id="17" name="texto-96"/>
          <p:cNvSpPr txBox="1"/>
          <p:nvPr/>
        </p:nvSpPr>
        <p:spPr>
          <a:xfrm>
            <a:off x="132588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Obligatorio en toda escritura, también con JWT en cookie</a:t>
            </a:r>
            <a:endParaRPr lang="en-US" sz="1600" dirty="0"/>
          </a:p>
        </p:txBody>
      </p:sp>
      <p:sp>
        <p:nvSpPr>
          <p:cNvPr id="18" name="tarjeta-97"/>
          <p:cNvSpPr/>
          <p:nvPr/>
        </p:nvSpPr>
        <p:spPr>
          <a:xfrm>
            <a:off x="608076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9" name="insignia-98"/>
          <p:cNvSpPr/>
          <p:nvPr/>
        </p:nvSpPr>
        <p:spPr>
          <a:xfrm>
            <a:off x="6263640" y="320040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20" name="insignia-texto-99"/>
          <p:cNvSpPr txBox="1"/>
          <p:nvPr/>
        </p:nvSpPr>
        <p:spPr>
          <a:xfrm>
            <a:off x="6263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o-100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Autorización</a:t>
            </a:r>
            <a:endParaRPr lang="en-US" sz="2000" dirty="0"/>
          </a:p>
        </p:txBody>
      </p:sp>
      <p:sp>
        <p:nvSpPr>
          <p:cNvPr id="22" name="texto-101"/>
          <p:cNvSpPr txBox="1"/>
          <p:nvPr/>
        </p:nvSpPr>
        <p:spPr>
          <a:xfrm>
            <a:off x="694944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Rol por ruta y propiedad en el servicio: ajena → 404</a:t>
            </a:r>
            <a:endParaRPr lang="en-US" sz="1600" dirty="0"/>
          </a:p>
        </p:txBody>
      </p:sp>
      <p:sp>
        <p:nvSpPr>
          <p:cNvPr id="23" name="tarjeta-102"/>
          <p:cNvSpPr/>
          <p:nvPr/>
        </p:nvSpPr>
        <p:spPr>
          <a:xfrm>
            <a:off x="457200" y="4617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24" name="insignia-103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25" name="insignia-texto-104"/>
          <p:cNvSpPr txBox="1"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o-105"/>
          <p:cNvSpPr txBox="1"/>
          <p:nvPr/>
        </p:nvSpPr>
        <p:spPr>
          <a:xfrm>
            <a:off x="132588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Cabeceras y HTTPS</a:t>
            </a:r>
            <a:endParaRPr lang="en-US" sz="2000" dirty="0"/>
          </a:p>
        </p:txBody>
      </p:sp>
      <p:sp>
        <p:nvSpPr>
          <p:cNvPr id="27" name="texto-106"/>
          <p:cNvSpPr txBox="1"/>
          <p:nvPr/>
        </p:nvSpPr>
        <p:spPr>
          <a:xfrm>
            <a:off x="1325880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HSTS, CSP, X-Frame-Options; HTTPS Only en Azure</a:t>
            </a:r>
            <a:endParaRPr lang="en-US" sz="1600" dirty="0"/>
          </a:p>
        </p:txBody>
      </p:sp>
      <p:sp>
        <p:nvSpPr>
          <p:cNvPr id="28" name="tarjeta-107"/>
          <p:cNvSpPr/>
          <p:nvPr/>
        </p:nvSpPr>
        <p:spPr>
          <a:xfrm>
            <a:off x="6080760" y="4617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29" name="insignia-108"/>
          <p:cNvSpPr/>
          <p:nvPr/>
        </p:nvSpPr>
        <p:spPr>
          <a:xfrm>
            <a:off x="6263640" y="484632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30" name="insignia-texto-109"/>
          <p:cNvSpPr txBox="1"/>
          <p:nvPr/>
        </p:nvSpPr>
        <p:spPr>
          <a:xfrm>
            <a:off x="6263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o-110"/>
          <p:cNvSpPr txBox="1"/>
          <p:nvPr/>
        </p:nvSpPr>
        <p:spPr>
          <a:xfrm>
            <a:off x="694944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C43"/>
                </a:solidFill>
              </a:rPr>
              <a:t>Registros</a:t>
            </a:r>
            <a:endParaRPr lang="en-US" sz="2000" dirty="0"/>
          </a:p>
        </p:txBody>
      </p:sp>
      <p:sp>
        <p:nvSpPr>
          <p:cNvPr id="32" name="texto-111"/>
          <p:cNvSpPr txBox="1"/>
          <p:nvPr/>
        </p:nvSpPr>
        <p:spPr>
          <a:xfrm>
            <a:off x="6949440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D"/>
                </a:solidFill>
              </a:rPr>
              <a:t>Sin contraseñas, tokens ni datos personales (ECS)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Dos clientes, la misma franja: solo una reserva</a:t>
            </a:r>
            <a:endParaRPr lang="en-US" sz="3400" dirty="0"/>
          </a:p>
        </p:txBody>
      </p:sp>
      <p:sp>
        <p:nvSpPr>
          <p:cNvPr id="3" name="tarjeta-112"/>
          <p:cNvSpPr/>
          <p:nvPr/>
        </p:nvSpPr>
        <p:spPr>
          <a:xfrm>
            <a:off x="548640" y="137160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11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114"/>
          <p:cNvSpPr txBox="1"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-115"/>
          <p:cNvSpPr txBox="1"/>
          <p:nvPr/>
        </p:nvSpPr>
        <p:spPr>
          <a:xfrm>
            <a:off x="146304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5C43"/>
                </a:solidFill>
              </a:rPr>
              <a:t>Bloqueo por barbero</a:t>
            </a:r>
            <a:endParaRPr lang="en-US" sz="1900" dirty="0"/>
          </a:p>
        </p:txBody>
      </p:sp>
      <p:sp>
        <p:nvSpPr>
          <p:cNvPr id="7" name="texto-116"/>
          <p:cNvSpPr txBox="1"/>
          <p:nvPr/>
        </p:nvSpPr>
        <p:spPr>
          <a:xfrm>
            <a:off x="1463040" y="1965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FOR NO KEY UPDATE y revalidación dentro de la transacción</a:t>
            </a:r>
            <a:endParaRPr lang="en-US" sz="1500" dirty="0"/>
          </a:p>
        </p:txBody>
      </p:sp>
      <p:sp>
        <p:nvSpPr>
          <p:cNvPr id="8" name="tarjeta-117"/>
          <p:cNvSpPr/>
          <p:nvPr/>
        </p:nvSpPr>
        <p:spPr>
          <a:xfrm>
            <a:off x="548640" y="283464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9" name="insignia-118"/>
          <p:cNvSpPr/>
          <p:nvPr/>
        </p:nvSpPr>
        <p:spPr>
          <a:xfrm>
            <a:off x="777240" y="3218688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0" name="insignia-texto-119"/>
          <p:cNvSpPr txBox="1"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-120"/>
          <p:cNvSpPr txBox="1"/>
          <p:nvPr/>
        </p:nvSpPr>
        <p:spPr>
          <a:xfrm>
            <a:off x="146304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5C43"/>
                </a:solidFill>
              </a:rPr>
              <a:t>Red de seguridad en PostgreSQL</a:t>
            </a:r>
            <a:endParaRPr lang="en-US" sz="1900" dirty="0"/>
          </a:p>
        </p:txBody>
      </p:sp>
      <p:sp>
        <p:nvSpPr>
          <p:cNvPr id="12" name="texto-121"/>
          <p:cNvSpPr txBox="1"/>
          <p:nvPr/>
        </p:nvSpPr>
        <p:spPr>
          <a:xfrm>
            <a:off x="1463040" y="3429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EXCLUDE USING gist: sin solapes por barbero ni por cliente</a:t>
            </a:r>
            <a:endParaRPr lang="en-US" sz="1500" dirty="0"/>
          </a:p>
        </p:txBody>
      </p:sp>
      <p:sp>
        <p:nvSpPr>
          <p:cNvPr id="13" name="tarjeta-122"/>
          <p:cNvSpPr/>
          <p:nvPr/>
        </p:nvSpPr>
        <p:spPr>
          <a:xfrm>
            <a:off x="548640" y="429768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4" name="insignia-123"/>
          <p:cNvSpPr/>
          <p:nvPr/>
        </p:nvSpPr>
        <p:spPr>
          <a:xfrm>
            <a:off x="777240" y="4681728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5" name="insignia-texto-124"/>
          <p:cNvSpPr txBox="1"/>
          <p:nvPr/>
        </p:nvSpPr>
        <p:spPr>
          <a:xfrm>
            <a:off x="77724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-125"/>
          <p:cNvSpPr txBox="1"/>
          <p:nvPr/>
        </p:nvSpPr>
        <p:spPr>
          <a:xfrm>
            <a:off x="1463040" y="4434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5C43"/>
                </a:solidFill>
              </a:rPr>
              <a:t>Bloqueo optimista</a:t>
            </a:r>
            <a:endParaRPr lang="en-US" sz="1900" dirty="0"/>
          </a:p>
        </p:txBody>
      </p:sp>
      <p:sp>
        <p:nvSpPr>
          <p:cNvPr id="17" name="texto-126"/>
          <p:cNvSpPr txBox="1"/>
          <p:nvPr/>
        </p:nvSpPr>
        <p:spPr>
          <a:xfrm>
            <a:off x="1463040" y="4892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@Version: una acción sobre un estado viejo recibe 409</a:t>
            </a:r>
            <a:endParaRPr lang="en-US" sz="1500" dirty="0"/>
          </a:p>
        </p:txBody>
      </p:sp>
      <p:sp>
        <p:nvSpPr>
          <p:cNvPr id="18" name="tarjeta-127"/>
          <p:cNvSpPr/>
          <p:nvPr/>
        </p:nvSpPr>
        <p:spPr>
          <a:xfrm>
            <a:off x="7315200" y="13716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4231D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9" name="texto-128"/>
          <p:cNvSpPr txBox="1"/>
          <p:nvPr/>
        </p:nvSpPr>
        <p:spPr>
          <a:xfrm>
            <a:off x="758952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</a:rPr>
              <a:t>ConcurrenciaReservaIT</a:t>
            </a:r>
            <a:endParaRPr lang="en-US" sz="1600" dirty="0"/>
          </a:p>
        </p:txBody>
      </p:sp>
      <p:sp>
        <p:nvSpPr>
          <p:cNvPr id="20" name="texto-129"/>
          <p:cNvSpPr txBox="1"/>
          <p:nvPr/>
        </p:nvSpPr>
        <p:spPr>
          <a:xfrm>
            <a:off x="758952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10</a:t>
            </a:r>
            <a:endParaRPr lang="en-US" sz="6000" dirty="0"/>
          </a:p>
        </p:txBody>
      </p:sp>
      <p:sp>
        <p:nvSpPr>
          <p:cNvPr id="21" name="texto-130"/>
          <p:cNvSpPr txBox="1"/>
          <p:nvPr/>
        </p:nvSpPr>
        <p:spPr>
          <a:xfrm>
            <a:off x="758952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5F1"/>
                </a:solidFill>
              </a:rPr>
              <a:t>solicitudes simultáneas a la misma franja</a:t>
            </a:r>
            <a:endParaRPr lang="en-US" sz="1400" dirty="0"/>
          </a:p>
        </p:txBody>
      </p:sp>
      <p:sp>
        <p:nvSpPr>
          <p:cNvPr id="22" name="texto-131"/>
          <p:cNvSpPr txBox="1"/>
          <p:nvPr/>
        </p:nvSpPr>
        <p:spPr>
          <a:xfrm>
            <a:off x="758952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 × 201 · 9 × 409</a:t>
            </a:r>
            <a:endParaRPr lang="en-US" sz="3200" dirty="0"/>
          </a:p>
        </p:txBody>
      </p:sp>
      <p:sp>
        <p:nvSpPr>
          <p:cNvPr id="23" name="texto-132"/>
          <p:cNvSpPr txBox="1"/>
          <p:nvPr/>
        </p:nvSpPr>
        <p:spPr>
          <a:xfrm>
            <a:off x="758952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5F1"/>
                </a:solidFill>
              </a:rPr>
              <a:t>contra PostgreSQL real, en cada verify</a:t>
            </a:r>
            <a:endParaRPr lang="en-US" sz="1400" dirty="0"/>
          </a:p>
        </p:txBody>
      </p:sp>
      <p:sp>
        <p:nvSpPr>
          <p:cNvPr id="24" name="texto-133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A54"/>
                </a:solidFill>
              </a:rPr>
              <a:t>Orden fijo de bloqueos para evitar interbloqueos: ① cliente → ② barberos por id → ③ reserva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Bibliotecas Java con uso real</a:t>
            </a:r>
            <a:endParaRPr lang="en-US" sz="3400" dirty="0"/>
          </a:p>
        </p:txBody>
      </p:sp>
      <p:sp>
        <p:nvSpPr>
          <p:cNvPr id="3" name="tarjeta-134"/>
          <p:cNvSpPr/>
          <p:nvPr/>
        </p:nvSpPr>
        <p:spPr>
          <a:xfrm>
            <a:off x="548640" y="1325880"/>
            <a:ext cx="2651760" cy="4754880"/>
          </a:xfrm>
          <a:prstGeom prst="roundRect">
            <a:avLst>
              <a:gd name="adj" fmla="val 4138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insignia-135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5" name="insignia-texto-136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</a:t>
            </a:r>
            <a:endParaRPr lang="en-US" sz="1800" dirty="0"/>
          </a:p>
        </p:txBody>
      </p:sp>
      <p:sp>
        <p:nvSpPr>
          <p:cNvPr id="6" name="texto-137"/>
          <p:cNvSpPr txBox="1"/>
          <p:nvPr/>
        </p:nvSpPr>
        <p:spPr>
          <a:xfrm>
            <a:off x="73152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1D"/>
                </a:solidFill>
              </a:rPr>
              <a:t>Logback</a:t>
            </a:r>
            <a:endParaRPr lang="en-US" sz="1800" dirty="0"/>
          </a:p>
        </p:txBody>
      </p:sp>
      <p:sp>
        <p:nvSpPr>
          <p:cNvPr id="7" name="texto-138"/>
          <p:cNvSpPr txBox="1"/>
          <p:nvPr/>
        </p:nvSpPr>
        <p:spPr>
          <a:xfrm>
            <a:off x="731520" y="2834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Backend de SLF4J. Formato ECS en producción. Registra cada exportación sin datos personales.</a:t>
            </a:r>
            <a:endParaRPr lang="en-US" sz="1400" dirty="0"/>
          </a:p>
        </p:txBody>
      </p:sp>
      <p:sp>
        <p:nvSpPr>
          <p:cNvPr id="8" name="texto-139"/>
          <p:cNvSpPr txBox="1"/>
          <p:nvPr/>
        </p:nvSpPr>
        <p:spPr>
          <a:xfrm>
            <a:off x="731520" y="4892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54"/>
                </a:solidFill>
              </a:rPr>
              <a:t>Probado con ListAppender: ni correos ni nombres.</a:t>
            </a:r>
            <a:endParaRPr lang="en-US" sz="1200" dirty="0"/>
          </a:p>
        </p:txBody>
      </p:sp>
      <p:sp>
        <p:nvSpPr>
          <p:cNvPr id="9" name="tarjeta-140"/>
          <p:cNvSpPr/>
          <p:nvPr/>
        </p:nvSpPr>
        <p:spPr>
          <a:xfrm>
            <a:off x="3364992" y="1325880"/>
            <a:ext cx="2651760" cy="4754880"/>
          </a:xfrm>
          <a:prstGeom prst="roundRect">
            <a:avLst>
              <a:gd name="adj" fmla="val 4138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0" name="insignia-141"/>
          <p:cNvSpPr/>
          <p:nvPr/>
        </p:nvSpPr>
        <p:spPr>
          <a:xfrm>
            <a:off x="3547872" y="1508760"/>
            <a:ext cx="502920" cy="502920"/>
          </a:xfrm>
          <a:prstGeom prst="ellipse">
            <a:avLst/>
          </a:prstGeom>
          <a:solidFill>
            <a:srgbClr val="4A5D9A"/>
          </a:solidFill>
          <a:ln w="12700">
            <a:solidFill>
              <a:srgbClr val="4A5D9A"/>
            </a:solidFill>
            <a:prstDash val="solid"/>
          </a:ln>
        </p:spPr>
      </p:sp>
      <p:sp>
        <p:nvSpPr>
          <p:cNvPr id="11" name="insignia-texto-142"/>
          <p:cNvSpPr txBox="1"/>
          <p:nvPr/>
        </p:nvSpPr>
        <p:spPr>
          <a:xfrm>
            <a:off x="354787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12" name="texto-143"/>
          <p:cNvSpPr txBox="1"/>
          <p:nvPr/>
        </p:nvSpPr>
        <p:spPr>
          <a:xfrm>
            <a:off x="3547872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1D"/>
                </a:solidFill>
              </a:rPr>
              <a:t>Apache POI</a:t>
            </a:r>
            <a:endParaRPr lang="en-US" sz="1800" dirty="0"/>
          </a:p>
        </p:txBody>
      </p:sp>
      <p:sp>
        <p:nvSpPr>
          <p:cNvPr id="13" name="texto-144"/>
          <p:cNvSpPr txBox="1"/>
          <p:nvPr/>
        </p:nvSpPr>
        <p:spPr>
          <a:xfrm>
            <a:off x="3547872" y="2834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Genera el .xlsx del reporte: hoja, celdas de texto y celdas numéricas. Nunca fórmulas.</a:t>
            </a:r>
            <a:endParaRPr lang="en-US" sz="1400" dirty="0"/>
          </a:p>
        </p:txBody>
      </p:sp>
      <p:sp>
        <p:nvSpPr>
          <p:cNvPr id="14" name="texto-145"/>
          <p:cNvSpPr txBox="1"/>
          <p:nvPr/>
        </p:nvSpPr>
        <p:spPr>
          <a:xfrm>
            <a:off x="3547872" y="4892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54"/>
                </a:solidFill>
              </a:rPr>
              <a:t>Solo ADMIN y solo datos agregados.</a:t>
            </a:r>
            <a:endParaRPr lang="en-US" sz="1200" dirty="0"/>
          </a:p>
        </p:txBody>
      </p:sp>
      <p:sp>
        <p:nvSpPr>
          <p:cNvPr id="15" name="tarjeta-146"/>
          <p:cNvSpPr/>
          <p:nvPr/>
        </p:nvSpPr>
        <p:spPr>
          <a:xfrm>
            <a:off x="6181344" y="1325880"/>
            <a:ext cx="2651760" cy="4754880"/>
          </a:xfrm>
          <a:prstGeom prst="roundRect">
            <a:avLst>
              <a:gd name="adj" fmla="val 4138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6" name="insignia-147"/>
          <p:cNvSpPr/>
          <p:nvPr/>
        </p:nvSpPr>
        <p:spPr>
          <a:xfrm>
            <a:off x="6364224" y="1508760"/>
            <a:ext cx="502920" cy="502920"/>
          </a:xfrm>
          <a:prstGeom prst="ellipse">
            <a:avLst/>
          </a:prstGeom>
          <a:solidFill>
            <a:srgbClr val="4A5D9A"/>
          </a:solidFill>
          <a:ln w="12700">
            <a:solidFill>
              <a:srgbClr val="4A5D9A"/>
            </a:solidFill>
            <a:prstDash val="solid"/>
          </a:ln>
        </p:spPr>
      </p:sp>
      <p:sp>
        <p:nvSpPr>
          <p:cNvPr id="17" name="insignia-texto-148"/>
          <p:cNvSpPr txBox="1"/>
          <p:nvPr/>
        </p:nvSpPr>
        <p:spPr>
          <a:xfrm>
            <a:off x="636422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o-149"/>
          <p:cNvSpPr txBox="1"/>
          <p:nvPr/>
        </p:nvSpPr>
        <p:spPr>
          <a:xfrm>
            <a:off x="6364224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1D"/>
                </a:solidFill>
              </a:rPr>
              <a:t>Commons Lang</a:t>
            </a:r>
            <a:endParaRPr lang="en-US" sz="1800" dirty="0"/>
          </a:p>
        </p:txBody>
      </p:sp>
      <p:sp>
        <p:nvSpPr>
          <p:cNvPr id="19" name="texto-150"/>
          <p:cNvSpPr txBox="1"/>
          <p:nvPr/>
        </p:nvSpPr>
        <p:spPr>
          <a:xfrm>
            <a:off x="6364224" y="2834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StringUtils.startsWithAny detecta =, +, -, @ al inicio del texto.</a:t>
            </a:r>
            <a:endParaRPr lang="en-US" sz="1400" dirty="0"/>
          </a:p>
        </p:txBody>
      </p:sp>
      <p:sp>
        <p:nvSpPr>
          <p:cNvPr id="20" name="texto-151"/>
          <p:cNvSpPr txBox="1"/>
          <p:nvPr/>
        </p:nvSpPr>
        <p:spPr>
          <a:xfrm>
            <a:off x="6364224" y="4892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54"/>
                </a:solidFill>
              </a:rPr>
              <a:t>Estilo quotePrefixed: Excel lo trata como texto sin cambiar el dato.</a:t>
            </a:r>
            <a:endParaRPr lang="en-US" sz="1200" dirty="0"/>
          </a:p>
        </p:txBody>
      </p:sp>
      <p:sp>
        <p:nvSpPr>
          <p:cNvPr id="21" name="tarjeta-152"/>
          <p:cNvSpPr/>
          <p:nvPr/>
        </p:nvSpPr>
        <p:spPr>
          <a:xfrm>
            <a:off x="8997696" y="1325880"/>
            <a:ext cx="2651760" cy="4754880"/>
          </a:xfrm>
          <a:prstGeom prst="roundRect">
            <a:avLst>
              <a:gd name="adj" fmla="val 4138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22" name="insignia-153"/>
          <p:cNvSpPr/>
          <p:nvPr/>
        </p:nvSpPr>
        <p:spPr>
          <a:xfrm>
            <a:off x="9180576" y="1508760"/>
            <a:ext cx="502920" cy="502920"/>
          </a:xfrm>
          <a:prstGeom prst="ellipse">
            <a:avLst/>
          </a:prstGeom>
          <a:solidFill>
            <a:srgbClr val="4A5D9A"/>
          </a:solidFill>
          <a:ln w="12700">
            <a:solidFill>
              <a:srgbClr val="4A5D9A"/>
            </a:solidFill>
            <a:prstDash val="solid"/>
          </a:ln>
        </p:spPr>
      </p:sp>
      <p:sp>
        <p:nvSpPr>
          <p:cNvPr id="23" name="insignia-texto-154"/>
          <p:cNvSpPr txBox="1"/>
          <p:nvPr/>
        </p:nvSpPr>
        <p:spPr>
          <a:xfrm>
            <a:off x="918057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</a:t>
            </a:r>
            <a:endParaRPr lang="en-US" sz="1800" dirty="0"/>
          </a:p>
        </p:txBody>
      </p:sp>
      <p:sp>
        <p:nvSpPr>
          <p:cNvPr id="24" name="texto-155"/>
          <p:cNvSpPr txBox="1"/>
          <p:nvPr/>
        </p:nvSpPr>
        <p:spPr>
          <a:xfrm>
            <a:off x="9180576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1D"/>
                </a:solidFill>
              </a:rPr>
              <a:t>Google Guava</a:t>
            </a:r>
            <a:endParaRPr lang="en-US" sz="1800" dirty="0"/>
          </a:p>
        </p:txBody>
      </p:sp>
      <p:sp>
        <p:nvSpPr>
          <p:cNvPr id="25" name="texto-156"/>
          <p:cNvSpPr txBox="1"/>
          <p:nvPr/>
        </p:nvSpPr>
        <p:spPr>
          <a:xfrm>
            <a:off x="9180576" y="2834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Preconditions.checkState exige que los totales cuadren; Stopwatch mide la generación.</a:t>
            </a:r>
            <a:endParaRPr lang="en-US" sz="1400" dirty="0"/>
          </a:p>
        </p:txBody>
      </p:sp>
      <p:sp>
        <p:nvSpPr>
          <p:cNvPr id="26" name="texto-157"/>
          <p:cNvSpPr txBox="1"/>
          <p:nvPr/>
        </p:nvSpPr>
        <p:spPr>
          <a:xfrm>
            <a:off x="9180576" y="4892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54"/>
                </a:solidFill>
              </a:rPr>
              <a:t>No se entrega un archivo incoherente.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Interfaces funcionales para los tres roles</a:t>
            </a:r>
            <a:endParaRPr lang="en-US" sz="3400" dirty="0"/>
          </a:p>
        </p:txBody>
      </p:sp>
      <p:pic>
        <p:nvPicPr>
          <p:cNvPr id="3" name="imagen-158" descr="Reservar en el teléf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968" y="1280160"/>
            <a:ext cx="1421903" cy="4846320"/>
          </a:xfrm>
          <a:prstGeom prst="rect">
            <a:avLst/>
          </a:prstGeom>
        </p:spPr>
      </p:pic>
      <p:pic>
        <p:nvPicPr>
          <p:cNvPr id="4" name="imagen-159" descr="Agenda del barbe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80160"/>
            <a:ext cx="4206240" cy="2628900"/>
          </a:xfrm>
          <a:prstGeom prst="rect">
            <a:avLst/>
          </a:prstGeom>
        </p:spPr>
      </p:pic>
      <p:pic>
        <p:nvPicPr>
          <p:cNvPr id="5" name="imagen-160" descr="Reportes del administr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2743200" cy="2743200"/>
          </a:xfrm>
          <a:prstGeom prst="rect">
            <a:avLst/>
          </a:prstGeom>
        </p:spPr>
      </p:pic>
      <p:sp>
        <p:nvSpPr>
          <p:cNvPr id="6" name="texto-161"/>
          <p:cNvSpPr txBox="1"/>
          <p:nvPr/>
        </p:nvSpPr>
        <p:spPr>
          <a:xfrm>
            <a:off x="548640" y="6172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54"/>
                </a:solidFill>
              </a:rPr>
              <a:t>Cliente · reservar (360 px)</a:t>
            </a:r>
            <a:endParaRPr lang="en-US" sz="1100" dirty="0"/>
          </a:p>
        </p:txBody>
      </p:sp>
      <p:sp>
        <p:nvSpPr>
          <p:cNvPr id="7" name="texto-162"/>
          <p:cNvSpPr txBox="1"/>
          <p:nvPr/>
        </p:nvSpPr>
        <p:spPr>
          <a:xfrm>
            <a:off x="297180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54"/>
                </a:solidFill>
              </a:rPr>
              <a:t>Barbero · agenda diaria</a:t>
            </a:r>
            <a:endParaRPr lang="en-US" sz="1100" dirty="0"/>
          </a:p>
        </p:txBody>
      </p:sp>
      <p:sp>
        <p:nvSpPr>
          <p:cNvPr id="8" name="texto-163"/>
          <p:cNvSpPr txBox="1"/>
          <p:nvPr/>
        </p:nvSpPr>
        <p:spPr>
          <a:xfrm>
            <a:off x="740664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54"/>
                </a:solidFill>
              </a:rPr>
              <a:t>Administrador · reportes</a:t>
            </a:r>
            <a:endParaRPr lang="en-US" sz="1100" dirty="0"/>
          </a:p>
        </p:txBody>
      </p:sp>
      <p:sp>
        <p:nvSpPr>
          <p:cNvPr id="9" name="tarjeta-164"/>
          <p:cNvSpPr/>
          <p:nvPr/>
        </p:nvSpPr>
        <p:spPr>
          <a:xfrm>
            <a:off x="2971800" y="4526280"/>
            <a:ext cx="8641080" cy="1600200"/>
          </a:xfrm>
          <a:prstGeom prst="roundRect">
            <a:avLst>
              <a:gd name="adj" fmla="val 6857"/>
            </a:avLst>
          </a:prstGeom>
          <a:solidFill>
            <a:srgbClr val="EEF5F1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0" name="texto-165"/>
          <p:cNvSpPr txBox="1"/>
          <p:nvPr/>
        </p:nvSpPr>
        <p:spPr>
          <a:xfrm>
            <a:off x="3200400" y="466344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D"/>
                </a:solidFill>
              </a:rPr>
              <a:t>P01–P08 del APF2 implementadas: </a:t>
            </a:r>
            <a:pPr indent="0" marL="0">
              <a:buNone/>
            </a:pPr>
            <a:r>
              <a:rPr lang="en-US" sz="1500" dirty="0">
                <a:solidFill>
                  <a:srgbClr val="14231D"/>
                </a:solidFill>
              </a:rPr>
              <a:t>acceso y cuenta, reservar, mis citas, agenda, servicios, barberos, horarios, reportes y usuarios. Capturas de 360 y 1440 px con axe sin violaciones; E2E en Chromium y Firefox.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Demostración en vivo (4 minutos)</a:t>
            </a:r>
            <a:endParaRPr lang="en-US" sz="3400" dirty="0"/>
          </a:p>
        </p:txBody>
      </p:sp>
      <p:sp>
        <p:nvSpPr>
          <p:cNvPr id="3" name="insignia-166"/>
          <p:cNvSpPr/>
          <p:nvPr/>
        </p:nvSpPr>
        <p:spPr>
          <a:xfrm>
            <a:off x="548640" y="1435608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4" name="insignia-texto-167"/>
          <p:cNvSpPr txBox="1"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-168"/>
          <p:cNvSpPr txBox="1"/>
          <p:nvPr/>
        </p:nvSpPr>
        <p:spPr>
          <a:xfrm>
            <a:off x="123444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C43"/>
                </a:solidFill>
              </a:rPr>
              <a:t>Cliente</a:t>
            </a:r>
            <a:endParaRPr lang="en-US" sz="1800" dirty="0"/>
          </a:p>
        </p:txBody>
      </p:sp>
      <p:sp>
        <p:nvSpPr>
          <p:cNvPr id="6" name="texto-169"/>
          <p:cNvSpPr txBox="1"/>
          <p:nvPr/>
        </p:nvSpPr>
        <p:spPr>
          <a:xfrm>
            <a:off x="2743200" y="141732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Reserva Corte clásico con Carlos el 01/10; la ve en Mis citas con su aviso</a:t>
            </a:r>
            <a:endParaRPr lang="en-US" sz="1700" dirty="0"/>
          </a:p>
        </p:txBody>
      </p:sp>
      <p:sp>
        <p:nvSpPr>
          <p:cNvPr id="7" name="insignia-170"/>
          <p:cNvSpPr/>
          <p:nvPr/>
        </p:nvSpPr>
        <p:spPr>
          <a:xfrm>
            <a:off x="548640" y="2368296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8" name="insignia-texto-171"/>
          <p:cNvSpPr txBox="1"/>
          <p:nvPr/>
        </p:nvSpPr>
        <p:spPr>
          <a:xfrm>
            <a:off x="54864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-172"/>
          <p:cNvSpPr txBox="1"/>
          <p:nvPr/>
        </p:nvSpPr>
        <p:spPr>
          <a:xfrm>
            <a:off x="1234440" y="23500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C43"/>
                </a:solidFill>
              </a:rPr>
              <a:t>Cliente</a:t>
            </a:r>
            <a:endParaRPr lang="en-US" sz="1800" dirty="0"/>
          </a:p>
        </p:txBody>
      </p:sp>
      <p:sp>
        <p:nvSpPr>
          <p:cNvPr id="10" name="texto-173"/>
          <p:cNvSpPr txBox="1"/>
          <p:nvPr/>
        </p:nvSpPr>
        <p:spPr>
          <a:xfrm>
            <a:off x="2743200" y="235000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Reprogramar: los botones vienen de los permisos que calcula el servidor</a:t>
            </a:r>
            <a:endParaRPr lang="en-US" sz="1700" dirty="0"/>
          </a:p>
        </p:txBody>
      </p:sp>
      <p:sp>
        <p:nvSpPr>
          <p:cNvPr id="11" name="insignia-174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2" name="insignia-texto-175"/>
          <p:cNvSpPr txBox="1"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-176"/>
          <p:cNvSpPr txBox="1"/>
          <p:nvPr/>
        </p:nvSpPr>
        <p:spPr>
          <a:xfrm>
            <a:off x="1234440" y="32826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C43"/>
                </a:solidFill>
              </a:rPr>
              <a:t>Barbero</a:t>
            </a:r>
            <a:endParaRPr lang="en-US" sz="1800" dirty="0"/>
          </a:p>
        </p:txBody>
      </p:sp>
      <p:sp>
        <p:nvSpPr>
          <p:cNvPr id="14" name="texto-177"/>
          <p:cNvSpPr txBox="1"/>
          <p:nvPr/>
        </p:nvSpPr>
        <p:spPr>
          <a:xfrm>
            <a:off x="2743200" y="3282696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Agenda del día: solo sus citas y las acciones de atención permitidas</a:t>
            </a:r>
            <a:endParaRPr lang="en-US" sz="1700" dirty="0"/>
          </a:p>
        </p:txBody>
      </p:sp>
      <p:sp>
        <p:nvSpPr>
          <p:cNvPr id="15" name="insignia-178"/>
          <p:cNvSpPr/>
          <p:nvPr/>
        </p:nvSpPr>
        <p:spPr>
          <a:xfrm>
            <a:off x="548640" y="4233672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16" name="insignia-texto-179"/>
          <p:cNvSpPr txBox="1"/>
          <p:nvPr/>
        </p:nvSpPr>
        <p:spPr>
          <a:xfrm>
            <a:off x="54864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-180"/>
          <p:cNvSpPr txBox="1"/>
          <p:nvPr/>
        </p:nvSpPr>
        <p:spPr>
          <a:xfrm>
            <a:off x="1234440" y="4215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C43"/>
                </a:solidFill>
              </a:rPr>
              <a:t>Admin</a:t>
            </a:r>
            <a:endParaRPr lang="en-US" sz="1800" dirty="0"/>
          </a:p>
        </p:txBody>
      </p:sp>
      <p:sp>
        <p:nvSpPr>
          <p:cNvPr id="18" name="texto-181"/>
          <p:cNvSpPr txBox="1"/>
          <p:nvPr/>
        </p:nvSpPr>
        <p:spPr>
          <a:xfrm>
            <a:off x="2743200" y="4215384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Bloqueo que cruza una cita: el servidor lo rechaza (CP-07)</a:t>
            </a:r>
            <a:endParaRPr lang="en-US" sz="1700" dirty="0"/>
          </a:p>
        </p:txBody>
      </p:sp>
      <p:sp>
        <p:nvSpPr>
          <p:cNvPr id="19" name="insignia-182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145C43"/>
          </a:solidFill>
          <a:ln w="12700">
            <a:solidFill>
              <a:srgbClr val="145C43"/>
            </a:solidFill>
            <a:prstDash val="solid"/>
          </a:ln>
        </p:spPr>
      </p:sp>
      <p:sp>
        <p:nvSpPr>
          <p:cNvPr id="20" name="insignia-texto-183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o-184"/>
          <p:cNvSpPr txBox="1"/>
          <p:nvPr/>
        </p:nvSpPr>
        <p:spPr>
          <a:xfrm>
            <a:off x="1234440" y="5148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C43"/>
                </a:solidFill>
              </a:rPr>
              <a:t>Admin</a:t>
            </a:r>
            <a:endParaRPr lang="en-US" sz="1800" dirty="0"/>
          </a:p>
        </p:txBody>
      </p:sp>
      <p:sp>
        <p:nvSpPr>
          <p:cNvPr id="22" name="texto-185"/>
          <p:cNvSpPr txBox="1"/>
          <p:nvPr/>
        </p:nvSpPr>
        <p:spPr>
          <a:xfrm>
            <a:off x="2743200" y="514807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Reportes de octubre → Descargar Excel; las cifras coinciden</a:t>
            </a:r>
            <a:endParaRPr lang="en-US" sz="1700" dirty="0"/>
          </a:p>
        </p:txBody>
      </p:sp>
      <p:sp>
        <p:nvSpPr>
          <p:cNvPr id="23" name="texto-18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A54"/>
                </a:solidFill>
              </a:rPr>
              <a:t>Entorno local con datos ficticios y reloj fijo del escenario del APF2 (28/09/2026 09:00). Si algo falla: capturas del informe y CI de GitHub.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Git y GitHub: cada avance tiene su commit</a:t>
            </a:r>
            <a:endParaRPr lang="en-US" sz="3400" dirty="0"/>
          </a:p>
        </p:txBody>
      </p:sp>
      <p:pic>
        <p:nvPicPr>
          <p:cNvPr id="3" name="imagen-187" descr="Repositorio público en 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80160"/>
            <a:ext cx="5852160" cy="4470400"/>
          </a:xfrm>
          <a:prstGeom prst="rect">
            <a:avLst/>
          </a:prstGeom>
        </p:spPr>
      </p:pic>
      <p:sp>
        <p:nvSpPr>
          <p:cNvPr id="4" name="texto-188"/>
          <p:cNvSpPr txBox="1"/>
          <p:nvPr/>
        </p:nvSpPr>
        <p:spPr>
          <a:xfrm>
            <a:off x="54864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450</a:t>
            </a:r>
            <a:endParaRPr lang="en-US" sz="4400" dirty="0"/>
          </a:p>
        </p:txBody>
      </p:sp>
      <p:sp>
        <p:nvSpPr>
          <p:cNvPr id="5" name="texto-189"/>
          <p:cNvSpPr txBox="1"/>
          <p:nvPr/>
        </p:nvSpPr>
        <p:spPr>
          <a:xfrm>
            <a:off x="5486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commits en main</a:t>
            </a:r>
            <a:endParaRPr lang="en-US" sz="1300" dirty="0"/>
          </a:p>
        </p:txBody>
      </p:sp>
      <p:sp>
        <p:nvSpPr>
          <p:cNvPr id="6" name="texto-190"/>
          <p:cNvSpPr txBox="1"/>
          <p:nvPr/>
        </p:nvSpPr>
        <p:spPr>
          <a:xfrm>
            <a:off x="301752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55</a:t>
            </a:r>
            <a:endParaRPr lang="en-US" sz="4400" dirty="0"/>
          </a:p>
        </p:txBody>
      </p:sp>
      <p:sp>
        <p:nvSpPr>
          <p:cNvPr id="7" name="texto-191"/>
          <p:cNvSpPr txBox="1"/>
          <p:nvPr/>
        </p:nvSpPr>
        <p:spPr>
          <a:xfrm>
            <a:off x="301752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merges de tareas --no-ff</a:t>
            </a:r>
            <a:endParaRPr lang="en-US" sz="1300" dirty="0"/>
          </a:p>
        </p:txBody>
      </p:sp>
      <p:sp>
        <p:nvSpPr>
          <p:cNvPr id="8" name="texto-192"/>
          <p:cNvSpPr txBox="1"/>
          <p:nvPr/>
        </p:nvSpPr>
        <p:spPr>
          <a:xfrm>
            <a:off x="548640" y="28803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Una rama por tarea: tarea/T-XX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Commits convencionales con [T-XX]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CI en cada push: backend con PostgreSQL 18; frontend lint, Vitest y build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31D"/>
                </a:solidFill>
              </a:rPr>
              <a:t>Hashes y notas de cierre en docs/tareas.md</a:t>
            </a:r>
            <a:endParaRPr lang="en-US" sz="1600" dirty="0"/>
          </a:p>
        </p:txBody>
      </p:sp>
      <p:sp>
        <p:nvSpPr>
          <p:cNvPr id="9" name="texto-193"/>
          <p:cNvSpPr txBox="1"/>
          <p:nvPr/>
        </p:nvSpPr>
        <p:spPr>
          <a:xfrm>
            <a:off x="548640" y="5212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5A00"/>
                </a:solidFill>
              </a:rPr>
              <a:t>Código de T-58 en main (merge 3bcd5d0, CI 39716850704 success); materiales del APF3 y APF2 final publicados.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Pruebas y despliegue en Azure</a:t>
            </a:r>
            <a:endParaRPr lang="en-US" sz="3400" dirty="0"/>
          </a:p>
        </p:txBody>
      </p:sp>
      <p:sp>
        <p:nvSpPr>
          <p:cNvPr id="3" name="texto-194"/>
          <p:cNvSpPr txBox="1"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1548</a:t>
            </a:r>
            <a:endParaRPr lang="en-US" sz="4400" dirty="0"/>
          </a:p>
        </p:txBody>
      </p:sp>
      <p:sp>
        <p:nvSpPr>
          <p:cNvPr id="4" name="texto-195"/>
          <p:cNvSpPr txBox="1"/>
          <p:nvPr/>
        </p:nvSpPr>
        <p:spPr>
          <a:xfrm>
            <a:off x="5486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pruebas de backend (JUnit + PostgreSQL)</a:t>
            </a:r>
            <a:endParaRPr lang="en-US" sz="1300" dirty="0"/>
          </a:p>
        </p:txBody>
      </p:sp>
      <p:sp>
        <p:nvSpPr>
          <p:cNvPr id="5" name="texto-196"/>
          <p:cNvSpPr txBox="1"/>
          <p:nvPr/>
        </p:nvSpPr>
        <p:spPr>
          <a:xfrm>
            <a:off x="329184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442</a:t>
            </a:r>
            <a:endParaRPr lang="en-US" sz="4400" dirty="0"/>
          </a:p>
        </p:txBody>
      </p:sp>
      <p:sp>
        <p:nvSpPr>
          <p:cNvPr id="6" name="texto-197"/>
          <p:cNvSpPr txBox="1"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pruebas de frontend (Vitest)</a:t>
            </a:r>
            <a:endParaRPr lang="en-US" sz="1300" dirty="0"/>
          </a:p>
        </p:txBody>
      </p:sp>
      <p:sp>
        <p:nvSpPr>
          <p:cNvPr id="7" name="texto-198"/>
          <p:cNvSpPr txBox="1"/>
          <p:nvPr/>
        </p:nvSpPr>
        <p:spPr>
          <a:xfrm>
            <a:off x="54864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48</a:t>
            </a:r>
            <a:endParaRPr lang="en-US" sz="4400" dirty="0"/>
          </a:p>
        </p:txBody>
      </p:sp>
      <p:sp>
        <p:nvSpPr>
          <p:cNvPr id="8" name="texto-199"/>
          <p:cNvSpPr txBox="1"/>
          <p:nvPr/>
        </p:nvSpPr>
        <p:spPr>
          <a:xfrm>
            <a:off x="54864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casos E2E (Chromium y Firefox, 360 y 1440 px)</a:t>
            </a:r>
            <a:endParaRPr lang="en-US" sz="1300" dirty="0"/>
          </a:p>
        </p:txBody>
      </p:sp>
      <p:sp>
        <p:nvSpPr>
          <p:cNvPr id="9" name="texto-200"/>
          <p:cNvSpPr txBox="1"/>
          <p:nvPr/>
        </p:nvSpPr>
        <p:spPr>
          <a:xfrm>
            <a:off x="329184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5C43"/>
                </a:solidFill>
              </a:rPr>
              <a:t>✓</a:t>
            </a:r>
            <a:endParaRPr lang="en-US" sz="4400" dirty="0"/>
          </a:p>
        </p:txBody>
      </p:sp>
      <p:sp>
        <p:nvSpPr>
          <p:cNvPr id="10" name="texto-201"/>
          <p:cNvSpPr txBox="1"/>
          <p:nvPr/>
        </p:nvSpPr>
        <p:spPr>
          <a:xfrm>
            <a:off x="329184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4"/>
                </a:solidFill>
              </a:rPr>
              <a:t>CI en verde: d2f3107 (39099141093) y 3bcd5d0 con T-58 (39716850704)</a:t>
            </a:r>
            <a:endParaRPr lang="en-US" sz="1300" dirty="0"/>
          </a:p>
        </p:txBody>
      </p:sp>
      <p:sp>
        <p:nvSpPr>
          <p:cNvPr id="11" name="texto-202"/>
          <p:cNvSpPr txBox="1"/>
          <p:nvPr/>
        </p:nvSpPr>
        <p:spPr>
          <a:xfrm>
            <a:off x="54864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A54"/>
                </a:solidFill>
              </a:rPr>
              <a:t>Checkpoint del 17–18/10/2026 sobre el código de d2f3107. T-58 (en main desde 3bcd5d0, 21/10/2026): 1578/1578 backend, 450/450 frontend, 48/48 E2E.</a:t>
            </a:r>
            <a:endParaRPr lang="en-US" sz="1300" dirty="0"/>
          </a:p>
        </p:txBody>
      </p:sp>
      <p:pic>
        <p:nvPicPr>
          <p:cNvPr id="12" name="imagen-203" descr="Producción en Az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212" y="1280160"/>
            <a:ext cx="5340096" cy="3337560"/>
          </a:xfrm>
          <a:prstGeom prst="rect">
            <a:avLst/>
          </a:prstGeom>
        </p:spPr>
      </p:pic>
      <p:sp>
        <p:nvSpPr>
          <p:cNvPr id="13" name="texto-204"/>
          <p:cNvSpPr txBox="1"/>
          <p:nvPr/>
        </p:nvSpPr>
        <p:spPr>
          <a:xfrm>
            <a:off x="6263640" y="475488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31D"/>
                </a:solidFill>
              </a:rPr>
              <a:t>Azure App Service B1 · Java 21 · PostgreSQL 18.6 Flexible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31D"/>
                </a:solidFill>
              </a:rPr>
              <a:t>HTTPS Only, HSTS, health check y UptimeRobot cada 5 min. Versión desplegada: d2f3107.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C43"/>
                </a:solidFill>
              </a:rPr>
              <a:t>Lo que falta, declarado como pendiente</a:t>
            </a:r>
            <a:endParaRPr lang="en-US" sz="3400" dirty="0"/>
          </a:p>
        </p:txBody>
      </p:sp>
      <p:sp>
        <p:nvSpPr>
          <p:cNvPr id="3" name="tarjeta-205"/>
          <p:cNvSpPr/>
          <p:nvPr/>
        </p:nvSpPr>
        <p:spPr>
          <a:xfrm>
            <a:off x="548640" y="132588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4" name="texto-206"/>
          <p:cNvSpPr txBox="1"/>
          <p:nvPr/>
        </p:nvSpPr>
        <p:spPr>
          <a:xfrm>
            <a:off x="777240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CP-11</a:t>
            </a:r>
            <a:endParaRPr lang="en-US" sz="1800" dirty="0"/>
          </a:p>
        </p:txBody>
      </p:sp>
      <p:sp>
        <p:nvSpPr>
          <p:cNvPr id="5" name="texto-207"/>
          <p:cNvSpPr txBox="1"/>
          <p:nvPr/>
        </p:nvSpPr>
        <p:spPr>
          <a:xfrm>
            <a:off x="2743200" y="1389888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Usabilidad con cinco personas: 0/5 sesiones</a:t>
            </a:r>
            <a:endParaRPr lang="en-US" sz="1700" dirty="0"/>
          </a:p>
        </p:txBody>
      </p:sp>
      <p:sp>
        <p:nvSpPr>
          <p:cNvPr id="6" name="tarjeta-208"/>
          <p:cNvSpPr/>
          <p:nvPr/>
        </p:nvSpPr>
        <p:spPr>
          <a:xfrm>
            <a:off x="548640" y="2093976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7" name="texto-209"/>
          <p:cNvSpPr txBox="1"/>
          <p:nvPr/>
        </p:nvSpPr>
        <p:spPr>
          <a:xfrm>
            <a:off x="777240" y="21579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RNF-02</a:t>
            </a:r>
            <a:endParaRPr lang="en-US" sz="1800" dirty="0"/>
          </a:p>
        </p:txBody>
      </p:sp>
      <p:sp>
        <p:nvSpPr>
          <p:cNvPr id="8" name="texto-210"/>
          <p:cNvSpPr txBox="1"/>
          <p:nvPr/>
        </p:nvSpPr>
        <p:spPr>
          <a:xfrm>
            <a:off x="2743200" y="2157984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99 % mensual: se medirá noviembre completo</a:t>
            </a:r>
            <a:endParaRPr lang="en-US" sz="1700" dirty="0"/>
          </a:p>
        </p:txBody>
      </p:sp>
      <p:sp>
        <p:nvSpPr>
          <p:cNvPr id="9" name="tarjeta-211"/>
          <p:cNvSpPr/>
          <p:nvPr/>
        </p:nvSpPr>
        <p:spPr>
          <a:xfrm>
            <a:off x="548640" y="2862072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0" name="texto-212"/>
          <p:cNvSpPr txBox="1"/>
          <p:nvPr/>
        </p:nvSpPr>
        <p:spPr>
          <a:xfrm>
            <a:off x="777240" y="2926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PM-1…8</a:t>
            </a:r>
            <a:endParaRPr lang="en-US" sz="1800" dirty="0"/>
          </a:p>
        </p:txBody>
      </p:sp>
      <p:sp>
        <p:nvSpPr>
          <p:cNvPr id="11" name="texto-213"/>
          <p:cNvSpPr txBox="1"/>
          <p:nvPr/>
        </p:nvSpPr>
        <p:spPr>
          <a:xfrm>
            <a:off x="2743200" y="292608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Prueba funcional mínima en producción</a:t>
            </a:r>
            <a:endParaRPr lang="en-US" sz="1700" dirty="0"/>
          </a:p>
        </p:txBody>
      </p:sp>
      <p:sp>
        <p:nvSpPr>
          <p:cNvPr id="12" name="tarjeta-214"/>
          <p:cNvSpPr/>
          <p:nvPr/>
        </p:nvSpPr>
        <p:spPr>
          <a:xfrm>
            <a:off x="548640" y="363016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3" name="texto-215"/>
          <p:cNvSpPr txBox="1"/>
          <p:nvPr/>
        </p:nvSpPr>
        <p:spPr>
          <a:xfrm>
            <a:off x="777240" y="3694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RNF-09</a:t>
            </a:r>
            <a:endParaRPr lang="en-US" sz="1800" dirty="0"/>
          </a:p>
        </p:txBody>
      </p:sp>
      <p:sp>
        <p:nvSpPr>
          <p:cNvPr id="14" name="texto-216"/>
          <p:cNvSpPr txBox="1"/>
          <p:nvPr/>
        </p:nvSpPr>
        <p:spPr>
          <a:xfrm>
            <a:off x="2743200" y="369417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Restauración ensayada en local; en Azure, pendiente</a:t>
            </a:r>
            <a:endParaRPr lang="en-US" sz="1700" dirty="0"/>
          </a:p>
        </p:txBody>
      </p:sp>
      <p:sp>
        <p:nvSpPr>
          <p:cNvPr id="15" name="tarjeta-217"/>
          <p:cNvSpPr/>
          <p:nvPr/>
        </p:nvSpPr>
        <p:spPr>
          <a:xfrm>
            <a:off x="548640" y="4398264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4F7F5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6" name="texto-218"/>
          <p:cNvSpPr txBox="1"/>
          <p:nvPr/>
        </p:nvSpPr>
        <p:spPr>
          <a:xfrm>
            <a:off x="777240" y="44622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Negocio</a:t>
            </a:r>
            <a:endParaRPr lang="en-US" sz="1800" dirty="0"/>
          </a:p>
        </p:txBody>
      </p:sp>
      <p:sp>
        <p:nvSpPr>
          <p:cNvPr id="17" name="texto-219"/>
          <p:cNvSpPr txBox="1"/>
          <p:nvPr/>
        </p:nvSpPr>
        <p:spPr>
          <a:xfrm>
            <a:off x="2743200" y="446227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Caso académico: reglas por validar con una barbería real</a:t>
            </a:r>
            <a:endParaRPr lang="en-US" sz="1700" dirty="0"/>
          </a:p>
        </p:txBody>
      </p:sp>
      <p:sp>
        <p:nvSpPr>
          <p:cNvPr id="18" name="tarjeta-220"/>
          <p:cNvSpPr/>
          <p:nvPr/>
        </p:nvSpPr>
        <p:spPr>
          <a:xfrm>
            <a:off x="548640" y="516636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9" name="texto-221"/>
          <p:cNvSpPr txBox="1"/>
          <p:nvPr/>
        </p:nvSpPr>
        <p:spPr>
          <a:xfrm>
            <a:off x="777240" y="5230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F1F"/>
                </a:solidFill>
              </a:rPr>
              <a:t>Java</a:t>
            </a:r>
            <a:endParaRPr lang="en-US" sz="1800" dirty="0"/>
          </a:p>
        </p:txBody>
      </p:sp>
      <p:sp>
        <p:nvSpPr>
          <p:cNvPr id="20" name="texto-222"/>
          <p:cNvSpPr txBox="1"/>
          <p:nvPr/>
        </p:nvSpPr>
        <p:spPr>
          <a:xfrm>
            <a:off x="2743200" y="5230368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1D"/>
                </a:solidFill>
              </a:rPr>
              <a:t>28,78 % del producto (41,56 % con pruebas) frente al 60 % estimado; informativo</a:t>
            </a:r>
            <a:endParaRPr lang="en-US" sz="1700" dirty="0"/>
          </a:p>
        </p:txBody>
      </p:sp>
      <p:sp>
        <p:nvSpPr>
          <p:cNvPr id="21" name="texto-22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A54"/>
                </a:solidFill>
              </a:rPr>
              <a:t>Cobertura funcional implementada ≠ aceptación completa de los requisitos no funcionales.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3" name="insignia-22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insignia-texto-225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o-226"/>
          <p:cNvSpPr txBox="1"/>
          <p:nvPr/>
        </p:nvSpPr>
        <p:spPr>
          <a:xfrm>
            <a:off x="14173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El diseño del APF2 se convirtió en un sistema que funciona para los tres roles</a:t>
            </a:r>
            <a:endParaRPr lang="en-US" sz="1900" dirty="0"/>
          </a:p>
        </p:txBody>
      </p:sp>
      <p:sp>
        <p:nvSpPr>
          <p:cNvPr id="6" name="insignia-227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insignia-texto-228"/>
          <p:cNvSpPr txBox="1"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o-229"/>
          <p:cNvSpPr txBox="1"/>
          <p:nvPr/>
        </p:nvSpPr>
        <p:spPr>
          <a:xfrm>
            <a:off x="141732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MVC, DAO y SOLID con clases concretas; TDD declarado donde existe</a:t>
            </a:r>
            <a:endParaRPr lang="en-US" sz="1900" dirty="0"/>
          </a:p>
        </p:txBody>
      </p:sp>
      <p:sp>
        <p:nvSpPr>
          <p:cNvPr id="9" name="insignia-23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insignia-texto-231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o-232"/>
          <p:cNvSpPr txBox="1"/>
          <p:nvPr/>
        </p:nvSpPr>
        <p:spPr>
          <a:xfrm>
            <a:off x="141732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La integridad de las reservas está garantizada en el servidor y en la base</a:t>
            </a:r>
            <a:endParaRPr lang="en-US" sz="1900" dirty="0"/>
          </a:p>
        </p:txBody>
      </p:sp>
      <p:sp>
        <p:nvSpPr>
          <p:cNvPr id="12" name="insignia-233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insignia-texto-234"/>
          <p:cNvSpPr txBox="1"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o-235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Bibliotecas Java con función real y cuidado de la información</a:t>
            </a:r>
            <a:endParaRPr lang="en-US" sz="1900" dirty="0"/>
          </a:p>
        </p:txBody>
      </p:sp>
      <p:sp>
        <p:nvSpPr>
          <p:cNvPr id="15" name="insignia-236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insignia-texto-237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o-238"/>
          <p:cNvSpPr txBox="1"/>
          <p:nvPr/>
        </p:nvSpPr>
        <p:spPr>
          <a:xfrm>
            <a:off x="14173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Historial, CI y despliegue verificables en GitHub y Azure</a:t>
            </a:r>
            <a:endParaRPr lang="en-US" sz="1900" dirty="0"/>
          </a:p>
        </p:txBody>
      </p:sp>
      <p:sp>
        <p:nvSpPr>
          <p:cNvPr id="18" name="texto-239"/>
          <p:cNvSpPr txBox="1"/>
          <p:nvPr/>
        </p:nvSpPr>
        <p:spPr>
          <a:xfrm>
            <a:off x="73152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</a:rPr>
              <a:t>Gracias · github.com/sohnny-lima/BarberTurno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berTurno verde">
  <a:themeElements>
    <a:clrScheme name="BarberTurno verde">
      <a:dk1>
        <a:srgbClr val="14231D"/>
      </a:dk1>
      <a:lt1>
        <a:srgbClr val="FFFFFF"/>
      </a:lt1>
      <a:dk2>
        <a:srgbClr val="145C43"/>
      </a:dk2>
      <a:lt2>
        <a:srgbClr val="EEF5F1"/>
      </a:lt2>
      <a:accent1>
        <a:srgbClr val="145C43"/>
      </a:accent1>
      <a:accent2>
        <a:srgbClr val="D9A441"/>
      </a:accent2>
      <a:accent3>
        <a:srgbClr val="4A5D9A"/>
      </a:accent3>
      <a:accent4>
        <a:srgbClr val="8A1F1F"/>
      </a:accent4>
      <a:accent5>
        <a:srgbClr val="4A5A54"/>
      </a:accent5>
      <a:accent6>
        <a:srgbClr val="9FB3AA"/>
      </a:accent6>
      <a:hlink>
        <a:srgbClr val="145C43"/>
      </a:hlink>
      <a:folHlink>
        <a:srgbClr val="4A5A54"/>
      </a:folHlink>
    </a:clrScheme>
    <a:fontScheme name="BarberTurno ver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BarberTurno · APF3 · Sustentación</dc:title>
  <dc:subject>PptxGenJS Presentation</dc:subject>
  <dc:creator>Sohnny Walter Lima Infanzón</dc:creator>
  <cp:lastModifiedBy>Sohnny Walter Lima Infanzón</cp:lastModifiedBy>
  <cp:revision>1</cp:revision>
  <dcterms:created xsi:type="dcterms:W3CDTF">2026-10-22T03:46:53Z</dcterms:created>
  <dcterms:modified xsi:type="dcterms:W3CDTF">2026-10-22T03:46:53Z</dcterms:modified>
</cp:coreProperties>
</file>